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各位老师好，我们小组答辩的题目是基于 GEC6818 与大模型的 AI 语音助手系统。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用户在开发板触摸屏上点一下按钮、说一句话，录音会通过 TCP 上传到电脑服务器；服务器先用讯飞语音听写把语音转成文字，再调用智谱 GLM 大模型生成回答，最后把回答回传到开发板的 LCD 屏幕上显示。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我们小组共六人，由李强担任组长。下面我从系统架构、关键技术、人员分工、测试验证和总结展望五个方面汇报。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这一页是系统总体架构。我们采用端云分工：开发板算力有限，所以把重计算放在服务器，板端只做四件事——触摸交互、录音、网络上传和屏幕显示。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左侧是板端 GEC6818：gslX680 电容屏采集触摸事件，arecord 按讯飞要求录成 16k 单声道 16 位的 WAV，通过 TCP 上传，最后把回答渲染到 framebuffer 屏幕。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右侧是 WSL 服务器：8888 端口常驻监听，收到音频后用 popen 依次调用讯飞在线听写和智谱 GLM-4-Flash，再把回答沿同一条连接回传。中间两条箭头分别表示上传 WAV 和回传回答。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这一页讲流程和关键技术。上方是一次对话的七步协议：板端先发文件名长度、文件大小和文件名，服务器回 OK 后才开始传音频内容，收齐再回一次 OK，保证文件完整。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之后服务器内部完成讯飞听写和 GLM 生成，最后用四字节长度加 UTF-8 文本把回答回传，整条链路复用同一个 TCP 连接。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下方是五个关键技术点：触摸事件读取与坐标映射、ALSA 录音和 framebuffer 显示、自定义可靠传输解决粘包半包、popen 串联讯飞听写、以及智谱大模型调用和 prompt 适配小屏。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这一页是六人分工，模块切分和代码目录一一对应，工作量尽量均衡。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李强任组长，负责总体架构、通信协议和服务器主流程，并统筹联调和统稿；钟劲翔负责 framebuffer 显示和汉字排版；甘智星负责电容触摸交互模块；杨毅负责录音和板端网络客户端；高原负责服务器的文件接收、进程编排和健壮性；冯志松负责讯飞听写和智谱大模型两部分 AI 能力。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每位同学同时负责自己模块的单元测试，最后由组长统一集成。答辩时每个人负责讲解自己模块对应的关键技术页。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测试方面，环境是 GEC6818 和 WSL 服务器网线直连同网段，讯飞和智谱走外网。我们设计了六类用例：正常录音上传、回答回显、连续多轮、网络异常、识别为空或 AI 异常、以及触摸误触，全部通过，并做了二十轮以上回归。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右侧是调试中最有代表性的四个问题：第一是 TCP 粘包半包，用定长头加循环收发和双 OK 解决；第二是触摸坐标和像素对不上，用 EVIOCGABS 自动映射，加标定宏兜底；第三是字库头文件里的宏把颜色参数名替换导致编译失败，改名规避；第四是 WSL 直连网络和动态库搜索路径，用固定同网段地址和 rpath 解决。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最后是总结。成果方面，我们完整打通了从触摸采集、可靠上传，到云端识别、大模型生成，再到屏幕回显的闭环，实现了零键盘操作；同时全组实践了交叉编译、framebuffer、evdev、ALSA 和 TCP 自定义协议等一整套嵌入式开发技能；系统对断网、识别为空等异常都做了兜底，可以连续稳定运行。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展望有三点：把固定三秒录音升级为按住说话加静音自动断句；从单轮问答扩展到带上下文的多轮对话；以及引入本地唤醒和轻量识别，降低对外网的依赖。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我的汇报到此结束，恳请各位老师批评指正，谢谢。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8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168400"/>
            <a:ext cx="889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企业实训项目答辩 · 嵌入式 AI 语音交互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752600"/>
            <a:ext cx="1041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GEC6818 与大模型的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4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语音助手系统</a:t>
            </a:r>
            <a:endParaRPr lang="en-US" sz="4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28647">
            <a:off x="1016026" y="3803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7FB2E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40132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触摸屏点按提问，板端录音上传，云端讯飞听写与智谱 GLM 作答，结果回显 800×480 LCD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054600"/>
            <a:ext cx="104140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小组成员：李强（组长）、钟劲翔、甘智星、杨毅、高原、冯志松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技术栈：C/Python · TCP Socket · ALSA · Framebuffer · evdev · 讯飞 IAT · GLM-4-Flash</a:t>
            </a:r>
            <a:endParaRPr lang="en-US" sz="15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890000" y="62992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4E5F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 年 9 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31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项目概述与总体架构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11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端云分工：板端负责触摸、录音与显示，云端负责识别与生成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397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传统开发板演示依赖串口敲命令，需接键盘、步骤繁琐，现场交互不直观。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实现“点屏即说、开口即答”、全程零键盘的嵌入式语音问答终端，支持连续多轮对话。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约束：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板端算力有限，语音识别与大模型推理部署在电脑服务器，板端只做采集、交互与回显。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" y="2387600"/>
            <a:ext cx="5130800" cy="3860800"/>
          </a:xfrm>
          <a:prstGeom prst="roundRect">
            <a:avLst>
              <a:gd name="adj" fmla="val 0"/>
            </a:avLst>
          </a:prstGeom>
          <a:solidFill>
            <a:srgbClr val="D4E5F7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板端 · GEC6818（ARM Linux，800×480 触摸 LCD）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870200"/>
            <a:ext cx="4826000" cy="609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触摸交互界面 gslX680 电容屏 / evdev 按钮事件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4832260">
            <a:off x="3136900" y="3537476"/>
            <a:ext cx="7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9" name="AutoShape 9"/>
          <p:cNvSpPr/>
          <p:nvPr/>
        </p:nvSpPr>
        <p:spPr>
          <a:xfrm>
            <a:off x="762000" y="3606800"/>
            <a:ext cx="4826000" cy="609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语音采集 arecord：16 kHz / 单声道 / S16_LE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4832260">
            <a:off x="3136900" y="4274076"/>
            <a:ext cx="7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1" name="AutoShape 11"/>
          <p:cNvSpPr/>
          <p:nvPr/>
        </p:nvSpPr>
        <p:spPr>
          <a:xfrm>
            <a:off x="762000" y="4343400"/>
            <a:ext cx="4826000" cy="609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TCP 客户端 socket 连接并上传 cmd.wav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4832260">
            <a:off x="3136900" y="5010676"/>
            <a:ext cx="7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3" name="AutoShape 13"/>
          <p:cNvSpPr/>
          <p:nvPr/>
        </p:nvSpPr>
        <p:spPr>
          <a:xfrm>
            <a:off x="762000" y="5080000"/>
            <a:ext cx="4826000" cy="609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结果显示 /dev/fb0 + libfont 汉字自动换行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51600" y="2387600"/>
            <a:ext cx="5130800" cy="3860800"/>
          </a:xfrm>
          <a:prstGeom prst="roundRect">
            <a:avLst>
              <a:gd name="adj" fmla="val 0"/>
            </a:avLst>
          </a:prstGeom>
          <a:solidFill>
            <a:srgbClr val="D4E5F7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服务器 · WSL Ubuntu（x86_64，常驻服务）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2870200"/>
            <a:ext cx="4826000" cy="609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TCP 服务器 监听 8888、按协议接收并落盘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4832260">
            <a:off x="8978900" y="3537476"/>
            <a:ext cx="7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7" name="AutoShape 17"/>
          <p:cNvSpPr/>
          <p:nvPr/>
        </p:nvSpPr>
        <p:spPr>
          <a:xfrm>
            <a:off x="6604000" y="3606800"/>
            <a:ext cx="4826000" cy="609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讯飞 IAT 在线听写 libmsc.so 语音转文字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4832260">
            <a:off x="8978900" y="4274076"/>
            <a:ext cx="7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9" name="AutoShape 19"/>
          <p:cNvSpPr/>
          <p:nvPr/>
        </p:nvSpPr>
        <p:spPr>
          <a:xfrm>
            <a:off x="6604000" y="4343400"/>
            <a:ext cx="4826000" cy="609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智谱 GLM-4-Flash zhipu_ai.py 生成回答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4832260">
            <a:off x="8978900" y="5010676"/>
            <a:ext cx="76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0BA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21" name="AutoShape 21"/>
          <p:cNvSpPr/>
          <p:nvPr/>
        </p:nvSpPr>
        <p:spPr>
          <a:xfrm>
            <a:off x="6604000" y="5080000"/>
            <a:ext cx="4826000" cy="609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0BA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回答回传 4 字节长度 + UTF-8 文本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66102">
            <a:off x="5765861" y="39560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087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3" name="AutoShape 23"/>
          <p:cNvSpPr/>
          <p:nvPr/>
        </p:nvSpPr>
        <p:spPr>
          <a:xfrm>
            <a:off x="5765800" y="3657600"/>
            <a:ext cx="66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WAV 上传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10733897">
            <a:off x="5765739" y="4667250"/>
            <a:ext cx="66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087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5" name="AutoShape 25"/>
          <p:cNvSpPr/>
          <p:nvPr/>
        </p:nvSpPr>
        <p:spPr>
          <a:xfrm>
            <a:off x="5765800" y="4724400"/>
            <a:ext cx="6604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回答回传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64262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同一条 TCP 连接完成全流程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668000" y="64262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06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31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工作流程与关键技术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11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一条 TCP 连接串起七步协议，五个技术点保证链路可靠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371600"/>
            <a:ext cx="10668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一次对话的七步协议时序（深蓝为板端动作，中蓝为服务器动作）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625600"/>
            <a:ext cx="1320800" cy="6604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 发文件头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长度+大小+名</a:t>
            </a:r>
            <a:endParaRPr lang="en-US" sz="95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342635">
            <a:off x="2108517" y="19494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8" name="AutoShape 8"/>
          <p:cNvSpPr/>
          <p:nvPr/>
        </p:nvSpPr>
        <p:spPr>
          <a:xfrm>
            <a:off x="2260600" y="1625600"/>
            <a:ext cx="1320800" cy="6604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 回复 OK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确认文件信息</a:t>
            </a:r>
            <a:endParaRPr lang="en-US" sz="95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-342635">
            <a:off x="3607117" y="19494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0" name="AutoShape 10"/>
          <p:cNvSpPr/>
          <p:nvPr/>
        </p:nvSpPr>
        <p:spPr>
          <a:xfrm>
            <a:off x="3759200" y="1625600"/>
            <a:ext cx="1320800" cy="6604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 上传 WAV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按字节发完</a:t>
            </a:r>
            <a:endParaRPr lang="en-US" sz="95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342635">
            <a:off x="5105717" y="19494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2" name="AutoShape 12"/>
          <p:cNvSpPr/>
          <p:nvPr/>
        </p:nvSpPr>
        <p:spPr>
          <a:xfrm>
            <a:off x="5257800" y="1625600"/>
            <a:ext cx="1320800" cy="6604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 回复 OK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确认完整落盘</a:t>
            </a:r>
            <a:endParaRPr lang="en-US" sz="95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342635">
            <a:off x="6604317" y="19494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4" name="AutoShape 14"/>
          <p:cNvSpPr/>
          <p:nvPr/>
        </p:nvSpPr>
        <p:spPr>
          <a:xfrm>
            <a:off x="6756400" y="1625600"/>
            <a:ext cx="1320800" cy="6604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 讯飞听写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语音转文字</a:t>
            </a:r>
            <a:endParaRPr lang="en-US" sz="95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342635">
            <a:off x="8102917" y="19494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6" name="AutoShape 16"/>
          <p:cNvSpPr/>
          <p:nvPr/>
        </p:nvSpPr>
        <p:spPr>
          <a:xfrm>
            <a:off x="8255000" y="1625600"/>
            <a:ext cx="1320800" cy="6604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 GLM 生成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大模型作答</a:t>
            </a:r>
            <a:endParaRPr lang="en-US" sz="95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rot="-342635">
            <a:off x="9601517" y="1949450"/>
            <a:ext cx="12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087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18" name="AutoShape 18"/>
          <p:cNvSpPr/>
          <p:nvPr/>
        </p:nvSpPr>
        <p:spPr>
          <a:xfrm>
            <a:off x="9753600" y="1625600"/>
            <a:ext cx="1320800" cy="6604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95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 回传回答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95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长度加 UTF-8</a:t>
            </a:r>
            <a:endParaRPr lang="en-US" sz="95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2438400"/>
            <a:ext cx="508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五个关键技术点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2743200"/>
            <a:ext cx="304800" cy="3048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219200" y="27178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电容触摸交互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124200" y="2717800"/>
            <a:ext cx="83058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evdev 读取 /dev/input/event0，EVIOCGABS 自动获取坐标范围并线性映射到 800×480；按下高亮、抬手触发，滑出按钮不误触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4092">
            <a:off x="762004" y="3270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762000" y="3454400"/>
            <a:ext cx="304800" cy="3048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219200" y="34290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录音与屏幕显示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124200" y="3429000"/>
            <a:ext cx="83058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arecord 固定 16 kHz / 单声道 / S16_LE 满足识别格式；mmap 映射 /dev/fb0，libfont 渲染 TTF 汉字，按 UTF-8 逐字符自动折行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4092">
            <a:off x="762004" y="39814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62000" y="4165600"/>
            <a:ext cx="304800" cy="3048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219200" y="41402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自定义可靠传输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124200" y="4140200"/>
            <a:ext cx="83058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应用层协议定长头加变长体，htonl 统一网络字节序，send_all/recv_all 循环收发解决粘包半包，两次 OK 确认保证文件完整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4092">
            <a:off x="762004" y="469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762000" y="4876800"/>
            <a:ext cx="304800" cy="3048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219200" y="48514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讯飞在线听写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3124200" y="4851400"/>
            <a:ext cx="83058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popen 调用 iat_online_sample（libmsc.so，appid 与库绑定），stdout 只取识别纯文本；识别为空时回“没有听清”兜底语</a:t>
            </a:r>
            <a:endParaRPr lang="en-US" sz="1100"/>
          </a:p>
        </p:txBody>
      </p:sp>
      <p:cxnSp>
        <p:nvCxnSpPr>
          <p:cNvPr id="35" name="Connector 35"/>
          <p:cNvCxnSpPr/>
          <p:nvPr/>
        </p:nvCxnSpPr>
        <p:spPr>
          <a:xfrm rot="-4092">
            <a:off x="762004" y="5403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AutoShape 36"/>
          <p:cNvSpPr/>
          <p:nvPr/>
        </p:nvSpPr>
        <p:spPr>
          <a:xfrm>
            <a:off x="762000" y="5588000"/>
            <a:ext cx="304800" cy="3048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1219200" y="5562600"/>
            <a:ext cx="177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大模型接入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3124200" y="5562600"/>
            <a:ext cx="83058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调 GLM-4-Flash，system prompt 限定 80 字内口语化回答以适配小屏；shell 单引号转义，避免中文标点打断命令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10668000" y="64262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06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31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团队分工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11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六人按模块并行开发，组长负责架构、集成与统稿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62000" y="1473200"/>
          <a:ext cx="10668000" cy="4673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1905000"/>
                <a:gridCol w="4826000"/>
                <a:gridCol w="2286000"/>
              </a:tblGrid>
              <a:tr h="45974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成员（角色）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负责模块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主要工作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交付物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0308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李强</a:t>
                      </a:r>
                      <a:endParaRPr lang="en-US" sz="1100" b="1" i="0" u="none" strike="noStrike">
                        <a:solidFill>
                          <a:srgbClr val="003087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架构与集成、服务器框架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总体方案与通信协议设计；server.c 主流程（accept、收发编排、异常处理）；两端联调、进度统筹与材料统稿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server.c、协议设计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0308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钟劲翔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板端 LCD 显示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/dev/fb0 显存 mmap 映射；libfont 加载 TTF 字库；UTF-8 逐字符排版、按屏宽自动折行与裁剪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显示与排版模块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0308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甘智星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触摸交互界面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gslX680 evdev 事件读取；EVIOCGABS 坐标范围获取与线性映射、方向标定；按钮绘制与按下高亮、抬手触发状态机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touch_ui.c / .h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0308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杨毅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录音与板端网络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ALSA arecord 录音参数调通；TCP 客户端连接、send_all/recv_all 可靠收发与 WAV 上传；板端主流程串联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client.c 采集/网络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0308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服务器工程化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录音文件接收落盘与路径穿越校验；popen 进程编排与输出收集；shell 单引号转义、识别失败与服务异常的兜底回复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server.c 健壮性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0308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冯志松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 能力对接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8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讯飞 IAT 在线听写集成（libmsc.so、appid 绑定、音频格式匹配）；智谱 GLM-4-Flash API 对接与 system prompt 调优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iat 程序、zhipu_ai.py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6273800"/>
            <a:ext cx="889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测试与文档：六人各自完成模块单元自测，组长负责集成测试、联调排障与答辩材料统稿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0" y="64262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06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31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系统测试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11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六类用例全部通过，四个典型问题均定位根因并修复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371600"/>
            <a:ext cx="5207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测试环境：GEC6818（ARM Linux）与 WSL Ubuntu 直连同网段，云端走外网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1625600"/>
          <a:ext cx="5207000" cy="3759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1651000"/>
                <a:gridCol w="1016000"/>
              </a:tblGrid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测试用例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预期结果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点按开始，录音并上传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状态屏依次切换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070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识别与 GLM 回答回传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LCD 自动换行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070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连续多轮对话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连接正常重建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070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服务器未启动 / 断网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提示失败不卡死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070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识别为空 / AI 异常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兜底语回复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070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按在按钮外或滑出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E293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不误触发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0070BA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6FC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55372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5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连续 20 轮以上回归，未出现丢包、花屏或崩溃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1371600"/>
            <a:ext cx="5080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调试中的四个典型问题与解决办法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16510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 TCP 粘包 / 半包导致文件截断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19558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定长头声明字节数，send_all/recv_all 循环收发严格收齐，两次 OK 握手确认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594">
            <a:off x="6350008" y="26352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350000" y="27686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 触摸原始坐标与屏幕像素不一致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30734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EVIOCGABS 读取轴范围线性映射到 800×480，预留 X/Y 交换与镜像宏一次标定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594">
            <a:off x="6350008" y="37528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350000" y="3886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 字库头文件宏冲突导致交叉编译失败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41910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font.h 中 #define color u32 会替换参数名，颜色入参统一改名 clr 后编译通过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8594">
            <a:off x="6350008" y="4870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350000" y="50038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 WSL 与开发板直连互通及动态库路径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5308600"/>
            <a:ext cx="508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5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两端固定同网段 link-local 地址；libmsc.so 经 rpath 写入可执行文件，免 export 库路径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8594">
            <a:off x="6350008" y="59880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668000" y="64262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/ 06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31800"/>
            <a:ext cx="508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70B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112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端云协同语音问答闭环已跑通，三个方向可持续迭代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473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项目成果与收获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594">
            <a:off x="762008" y="17970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08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762000" y="2006600"/>
            <a:ext cx="279400" cy="2794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68400" y="1981200"/>
            <a:ext cx="4673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打通端云协同完整闭环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68400" y="2286000"/>
            <a:ext cx="4673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点屏即说、开口即答，触摸、录音、上传、识别、生成与屏幕回显全链路贯通，全程无需键盘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200400"/>
            <a:ext cx="279400" cy="2794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168400" y="3175000"/>
            <a:ext cx="4673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沉淀嵌入式工程能力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68400" y="3479800"/>
            <a:ext cx="4673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 ARM 交叉编译、framebuffer 显示、evdev 输入、ALSA 录音与 TCP 自定义协议可靠收发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394200"/>
            <a:ext cx="279400" cy="2794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168400" y="4368800"/>
            <a:ext cx="4673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系统稳定、异常可控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168400" y="4673600"/>
            <a:ext cx="4673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云端 ASR 与大模型级联、popen 进程编排；断网、识别为空、服务异常均有提示或兜底回复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1473200"/>
            <a:ext cx="508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不足与改进方向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8594">
            <a:off x="6350008" y="17970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08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8" name="AutoShape 18"/>
          <p:cNvSpPr/>
          <p:nvPr/>
        </p:nvSpPr>
        <p:spPr>
          <a:xfrm>
            <a:off x="6350000" y="2006600"/>
            <a:ext cx="279400" cy="2794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756400" y="1981200"/>
            <a:ext cx="4673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录音方式更自然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756400" y="2286000"/>
            <a:ext cx="4673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由固定录音 3 秒，升级为按住说话、松手结束，并引入 VAD 静音检测自动断句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3200400"/>
            <a:ext cx="279400" cy="2794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756400" y="3175000"/>
            <a:ext cx="4673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支持多轮上下文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756400" y="3479800"/>
            <a:ext cx="4673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当前为单轮问答，后续在服务器维护会话历史，让大模型结合上下文连续作答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4394200"/>
            <a:ext cx="279400" cy="279400"/>
          </a:xfrm>
          <a:prstGeom prst="roundRect">
            <a:avLst>
              <a:gd name="adj" fmla="val 0"/>
            </a:avLst>
          </a:prstGeom>
          <a:solidFill>
            <a:srgbClr val="0070B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756400" y="4368800"/>
            <a:ext cx="4673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50" b="1" i="0" u="none" strike="noStrike">
                <a:solidFill>
                  <a:srgbClr val="001C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弱网与离线可用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756400" y="4673600"/>
            <a:ext cx="46736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现依赖外网访问云端服务，后续加入本地唤醒词与轻量化识别，弱网环境下也能基础可用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4092">
            <a:off x="762004" y="5657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4E5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62000" y="58166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30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汇报完毕，恳请各位老师批评指正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668000" y="6426200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/ 06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2811</Words>
  <Application>WPS 演示</Application>
  <PresentationFormat/>
  <Paragraphs>291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WPS_1742880482</cp:lastModifiedBy>
  <cp:revision>1</cp:revision>
  <dcterms:created xsi:type="dcterms:W3CDTF">2026-09-13T15:01:23Z</dcterms:created>
  <dcterms:modified xsi:type="dcterms:W3CDTF">2026-09-13T15:01:23Z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D3FF3793A41840FBA5EF74E3AB1F050A_12</vt:lpwstr>
  </property>
</Properties>
</file>